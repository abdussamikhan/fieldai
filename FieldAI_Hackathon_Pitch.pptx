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38BDF8"/>
                </a:solidFill>
                <a:latin typeface="Arial"/>
              </a:defRPr>
            </a:pPr>
            <a:r>
              <a:t>FIELD AI</a:t>
            </a:r>
          </a:p>
          <a:p>
            <a:pPr>
              <a:spcBef>
                <a:spcPts val="800"/>
              </a:spcBef>
              <a:defRPr sz="2200" b="1">
                <a:solidFill>
                  <a:srgbClr val="F8FAFC"/>
                </a:solidFill>
                <a:latin typeface="Arial"/>
              </a:defRPr>
            </a:pPr>
            <a:r>
              <a:t>Autonomous Multi-Agent Fieldwork &amp; Process Intelligence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  <a:latin typeface="Arial"/>
              </a:defRPr>
            </a:pPr>
            <a:r>
              <a:t>Turning hours of messy walkthrough interviews &amp; SOPs into verifiable audit workpapers in minutes.</a:t>
            </a:r>
          </a:p>
          <a:p>
            <a:pPr>
              <a:spcBef>
                <a:spcPts val="2400"/>
              </a:spcBef>
              <a:defRPr sz="1200" b="1">
                <a:solidFill>
                  <a:srgbClr val="06B6D4"/>
                </a:solidFill>
                <a:latin typeface="Arial"/>
              </a:defRPr>
            </a:pPr>
            <a:r>
              <a:t>Presented by: Sami Associates · Hackathon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HACKATHON PROJECT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The Problem: The Fieldwork Bottleneck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⏳  50%+ Audit Fieldwork Time Wasted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Auditors spend days manually transcribing audio walkthrough interviews.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Tedious re-keying across narratives, Visio flowcharts, and Risk &amp; Control Matrices.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Manual error and fatigue lead to incomplete risk evaluations.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🧩  The 'Say vs. Do' Gap &amp; Broken Links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What employees say in interviews often diverges from written SOP manuals.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Identifying informal workarounds manually is exhausting and frequently missed.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</a:defRPr>
            </a:pPr>
            <a:r>
              <a:t>• Traditional workpapers lack direct verifiable links back to exact audio timestamps or document clauses.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HACKATHON PROJECT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The Solution: FieldAI Multi-Agent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🎙️ Walkthrough Ingestion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Uploads multi-speaker audio; extracts accurate speech with speaker diarization &amp; exact timestamps.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📄 Procedural Intelligence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Ingests complex PDF &amp; Word policies; automatically breaks them into hierarchical clauses.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🔍 Divergence &amp; Gap Engine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Reconciles interviews against SOPs across 5 divergence categories to detect operational drift.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⚡ 1-Click Workpaper Synthesis</a:t>
            </a:r>
          </a:p>
          <a:p>
            <a:pPr>
              <a:spcBef>
                <a:spcPts val="800"/>
              </a:spcBef>
              <a:defRPr sz="1250">
                <a:solidFill>
                  <a:srgbClr val="F8FAFC"/>
                </a:solidFill>
              </a:defRPr>
            </a:pPr>
            <a:r>
              <a:t>Generates standardized Process Tables, Mermaid Flowcharts, RCM, and Audit Programs with 100% citations.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HACKATHON PROJECT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Multi-Agent Architecture: 21 LangGraph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Agent Cluster: Master Orchestrator</a:t>
            </a:r>
          </a:p>
          <a:p>
            <a:pPr>
              <a:spcBef>
                <a:spcPts val="300"/>
              </a:spcBef>
              <a:defRPr sz="1200">
                <a:solidFill>
                  <a:srgbClr val="F8FAFC"/>
                </a:solidFill>
              </a:defRPr>
            </a:pPr>
            <a:r>
              <a:t>Central routing graph directing interview ingestion, SOP validation, and synthesis workflows.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069848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Agent Cluster: Specialized Sub-Graphs</a:t>
            </a:r>
          </a:p>
          <a:p>
            <a:pPr>
              <a:spcBef>
                <a:spcPts val="300"/>
              </a:spcBef>
              <a:defRPr sz="1200">
                <a:solidFill>
                  <a:srgbClr val="F8FAFC"/>
                </a:solidFill>
              </a:defRPr>
            </a:pPr>
            <a:r>
              <a:t>6 coordinated sub-graphs: Transcription, Document QA, Process Flow, RCM, Audit Program, &amp; Analytics.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69848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Agent Cluster: Deterministic Schemas</a:t>
            </a:r>
          </a:p>
          <a:p>
            <a:pPr>
              <a:spcBef>
                <a:spcPts val="300"/>
              </a:spcBef>
              <a:defRPr sz="1200">
                <a:solidFill>
                  <a:srgbClr val="F8FAFC"/>
                </a:solidFill>
              </a:defRPr>
            </a:pPr>
            <a:r>
              <a:t>Every agent produces strictly typed JSON outputs validated before moving to downstream nodes.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74920"/>
            <a:ext cx="10698480" cy="960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64592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Agent Cluster: Auditor in the Loop</a:t>
            </a:r>
          </a:p>
          <a:p>
            <a:pPr>
              <a:spcBef>
                <a:spcPts val="300"/>
              </a:spcBef>
              <a:defRPr sz="1200">
                <a:solidFill>
                  <a:srgbClr val="F8FAFC"/>
                </a:solidFill>
              </a:defRPr>
            </a:pPr>
            <a:r>
              <a:t>Supervisory review checkpoints allow auditors to inspect, edit, and approve before final compilation.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HACKATHON PROJECT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Tech Stack &amp; Engineering Highlights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LangGraph StateGraph</a:t>
            </a:r>
          </a:p>
          <a:p>
            <a:pPr>
              <a:spcBef>
                <a:spcPts val="200"/>
              </a:spcBef>
              <a:defRPr sz="1100" b="1">
                <a:solidFill>
                  <a:srgbClr val="06B6D4"/>
                </a:solidFill>
              </a:defRPr>
            </a:pPr>
            <a:r>
              <a:t>Orchestration &amp; State Machine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Multi-agent acyclic graphs with checkpointing and state persistence.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DeepSeek Flash</a:t>
            </a:r>
          </a:p>
          <a:p>
            <a:pPr>
              <a:spcBef>
                <a:spcPts val="200"/>
              </a:spcBef>
              <a:defRPr sz="1100" b="1">
                <a:solidFill>
                  <a:srgbClr val="06B6D4"/>
                </a:solidFill>
              </a:defRPr>
            </a:pPr>
            <a:r>
              <a:t>AI Reasoning Engine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High-speed reasoning, clause alignment, and JSON schema compliance.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ElevenLabs Scribe</a:t>
            </a:r>
          </a:p>
          <a:p>
            <a:pPr>
              <a:spcBef>
                <a:spcPts val="200"/>
              </a:spcBef>
              <a:defRPr sz="1100" b="1">
                <a:solidFill>
                  <a:srgbClr val="06B6D4"/>
                </a:solidFill>
              </a:defRPr>
            </a:pPr>
            <a:r>
              <a:t>Speech Intelligence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Audio transcription with speaker diarization and millisecond-grade timestamps.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Streamlit Workstation</a:t>
            </a:r>
          </a:p>
          <a:p>
            <a:pPr>
              <a:spcBef>
                <a:spcPts val="200"/>
              </a:spcBef>
              <a:defRPr sz="1100" b="1">
                <a:solidFill>
                  <a:srgbClr val="06B6D4"/>
                </a:solidFill>
              </a:defRPr>
            </a:pPr>
            <a:r>
              <a:t>Auditor UI Portal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15-page interactive dashboard for reviewing evidence and testing matrices.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931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PostgreSQL &amp; Jobs</a:t>
            </a:r>
          </a:p>
          <a:p>
            <a:pPr>
              <a:spcBef>
                <a:spcPts val="200"/>
              </a:spcBef>
              <a:defRPr sz="1100" b="1">
                <a:solidFill>
                  <a:srgbClr val="06B6D4"/>
                </a:solidFill>
              </a:defRPr>
            </a:pPr>
            <a:r>
              <a:t>Data Persistence &amp; Queues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Background job worker handling asynchronous pipeline execution.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931920"/>
            <a:ext cx="33832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Audit Analytics Engine</a:t>
            </a:r>
          </a:p>
          <a:p>
            <a:pPr>
              <a:spcBef>
                <a:spcPts val="200"/>
              </a:spcBef>
              <a:defRPr sz="1100" b="1">
                <a:solidFill>
                  <a:srgbClr val="06B6D4"/>
                </a:solidFill>
              </a:defRPr>
            </a:pPr>
            <a:r>
              <a:t>Deterministic Verification</a:t>
            </a:r>
          </a:p>
          <a:p>
            <a:pPr>
              <a:spcBef>
                <a:spcPts val="600"/>
              </a:spcBef>
              <a:defRPr sz="1100">
                <a:solidFill>
                  <a:srgbClr val="F8FAFC"/>
                </a:solidFill>
              </a:defRPr>
            </a:pPr>
            <a:r>
              <a:t>Full-population testing for duplicate payments, split POs, and SoD toxic roles.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HACKATHON PROJECT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Hackathon Results &amp; Live Demo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🏆 Measurable Impact</a:t>
            </a:r>
          </a:p>
          <a:p>
            <a:pPr>
              <a:spcBef>
                <a:spcPts val="1200"/>
              </a:spcBef>
              <a:defRPr sz="1300" b="1">
                <a:solidFill>
                  <a:srgbClr val="F8FAFC"/>
                </a:solidFill>
              </a:defRPr>
            </a:pPr>
            <a:r>
              <a:t>• &gt; 50% Reduction in Fieldwork Hours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</a:defRPr>
            </a:pPr>
            <a:r>
              <a:t>  Saves 3-5 days per audit cycle on administrative drafting.</a:t>
            </a:r>
          </a:p>
          <a:p>
            <a:pPr>
              <a:spcBef>
                <a:spcPts val="1200"/>
              </a:spcBef>
              <a:defRPr sz="1300" b="1">
                <a:solidFill>
                  <a:srgbClr val="F8FAFC"/>
                </a:solidFill>
              </a:defRPr>
            </a:pPr>
            <a:r>
              <a:t>• 100% Traceability &amp; Compliance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</a:defRPr>
            </a:pPr>
            <a:r>
              <a:t>  Every finding and test directly cites source audio or policy clauses.</a:t>
            </a:r>
          </a:p>
          <a:p>
            <a:pPr>
              <a:spcBef>
                <a:spcPts val="1200"/>
              </a:spcBef>
              <a:defRPr sz="1300" b="1">
                <a:solidFill>
                  <a:srgbClr val="F8FAFC"/>
                </a:solidFill>
              </a:defRPr>
            </a:pPr>
            <a:r>
              <a:t>• Full-Population Testing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</a:defRPr>
            </a:pPr>
            <a:r>
              <a:t>  Replaces standard 25-item samples with 100% automated substantive checks.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🚀 Future Vision</a:t>
            </a:r>
          </a:p>
          <a:p>
            <a:pPr>
              <a:spcBef>
                <a:spcPts val="1200"/>
              </a:spcBef>
              <a:defRPr sz="1300" b="1">
                <a:solidFill>
                  <a:srgbClr val="F8FAFC"/>
                </a:solidFill>
              </a:defRPr>
            </a:pPr>
            <a:r>
              <a:t>• Offline-First Fieldwork Sync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</a:defRPr>
            </a:pPr>
            <a:r>
              <a:t>  Enable full local processing on encrypted laptops in remote client sites.</a:t>
            </a:r>
          </a:p>
          <a:p>
            <a:pPr>
              <a:spcBef>
                <a:spcPts val="1200"/>
              </a:spcBef>
              <a:defRPr sz="1300" b="1">
                <a:solidFill>
                  <a:srgbClr val="F8FAFC"/>
                </a:solidFill>
              </a:defRPr>
            </a:pPr>
            <a:r>
              <a:t>• Real-time Interview Co-Pilot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</a:defRPr>
            </a:pPr>
            <a:r>
              <a:t>  Live suggestions for auditors to ask dynamic probing follow-up questions.</a:t>
            </a:r>
          </a:p>
          <a:p>
            <a:pPr>
              <a:spcBef>
                <a:spcPts val="1200"/>
              </a:spcBef>
              <a:defRPr sz="1300" b="1">
                <a:solidFill>
                  <a:srgbClr val="F8FAFC"/>
                </a:solidFill>
              </a:defRPr>
            </a:pPr>
            <a:r>
              <a:t>• Direct ERP Ingestion</a:t>
            </a:r>
          </a:p>
          <a:p>
            <a:pPr>
              <a:spcBef>
                <a:spcPts val="200"/>
              </a:spcBef>
              <a:defRPr sz="1150">
                <a:solidFill>
                  <a:srgbClr val="94A3B8"/>
                </a:solidFill>
              </a:defRPr>
            </a:pPr>
            <a:r>
              <a:t>  Seamless API connectors for SAP S/4HANA, NetSuite, and Workday event logs.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8BDF8"/>
                </a:solidFill>
                <a:latin typeface="Arial"/>
              </a:defRPr>
            </a:pPr>
            <a:r>
              <a:t>Thank You! 🎯</a:t>
            </a:r>
          </a:p>
          <a:p>
            <a:pPr algn="ctr">
              <a:spcBef>
                <a:spcPts val="1200"/>
              </a:spcBef>
              <a:defRPr sz="2000" b="1">
                <a:solidFill>
                  <a:srgbClr val="F8FAFC"/>
                </a:solidFill>
              </a:defRPr>
            </a:pPr>
            <a:r>
              <a:t>FieldAI: Reimagining Audit Fieldwork with Multi-Agent AI</a:t>
            </a:r>
          </a:p>
          <a:p>
            <a:pPr algn="ctr">
              <a:spcBef>
                <a:spcPts val="1800"/>
              </a:spcBef>
              <a:defRPr sz="1400">
                <a:solidFill>
                  <a:srgbClr val="06B6D4"/>
                </a:solidFill>
              </a:defRPr>
            </a:pPr>
            <a:r>
              <a:t>Ready for Q&amp;A and Live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